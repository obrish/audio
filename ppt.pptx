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" charset="1" panose="00000000000000000000"/>
      <p:regular r:id="rId14"/>
    </p:embeddedFont>
    <p:embeddedFont>
      <p:font typeface="Roboto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94828" y="1904463"/>
            <a:ext cx="11293384" cy="127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2"/>
              </a:lnSpc>
            </a:pPr>
            <a:r>
              <a:rPr lang="en-US" sz="775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Multimodal RAG Chatbot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87860" y="5677009"/>
            <a:ext cx="6546755" cy="61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312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- presented by: Blesson Samuel 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2157" y="726207"/>
            <a:ext cx="8151763" cy="105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8"/>
              </a:lnSpc>
            </a:pPr>
            <a:r>
              <a:rPr lang="en-US" sz="639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442" y="2356545"/>
            <a:ext cx="18161558" cy="628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57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This project is an AI-powered conversati</a:t>
            </a:r>
            <a:r>
              <a:rPr lang="en-US" sz="357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onal assistant that intelligently handles both voice and text inputs. It combines document understanding, natural language processing, and speech recognition to create a smart, interactive experience.</a:t>
            </a:r>
          </a:p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57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Users can upload PDF documents, ask questions about them through text or voice, and receive accurate, context-aware answers. Powered by FastAPI, Langchain, Google Gemini Flash, and AssemblyAI, the system classifies each user query and dynamically routes it to either a document-based RAG model or a friendly chatbot agent.</a:t>
            </a:r>
          </a:p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57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This model serves as a foundation for building intelligent applications that can read documents, understand voice, and talk back naturally  making AI interaction seamless, informative, and human-like.</a:t>
            </a:r>
          </a:p>
          <a:p>
            <a:pPr algn="ctr">
              <a:lnSpc>
                <a:spcPts val="45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6696" y="710804"/>
            <a:ext cx="7791599" cy="101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612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6696" y="2540942"/>
            <a:ext cx="5284589" cy="3290739"/>
            <a:chOff x="0" y="0"/>
            <a:chExt cx="7046118" cy="43876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46087" cy="4387723"/>
            </a:xfrm>
            <a:custGeom>
              <a:avLst/>
              <a:gdLst/>
              <a:ahLst/>
              <a:cxnLst/>
              <a:rect r="r" b="b" t="t" l="l"/>
              <a:pathLst>
                <a:path h="4387723" w="704608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802247" y="0"/>
                  </a:lnTo>
                  <a:cubicBezTo>
                    <a:pt x="6936867" y="0"/>
                    <a:pt x="7046087" y="109220"/>
                    <a:pt x="7046087" y="243840"/>
                  </a:cubicBezTo>
                  <a:lnTo>
                    <a:pt x="7046087" y="4143883"/>
                  </a:lnTo>
                  <a:cubicBezTo>
                    <a:pt x="7046087" y="4278503"/>
                    <a:pt x="6936867" y="4387723"/>
                    <a:pt x="6802247" y="4387723"/>
                  </a:cubicBezTo>
                  <a:lnTo>
                    <a:pt x="243840" y="4387723"/>
                  </a:lnTo>
                  <a:cubicBezTo>
                    <a:pt x="109220" y="4387723"/>
                    <a:pt x="0" y="4278503"/>
                    <a:pt x="0" y="414388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6696" y="2502842"/>
            <a:ext cx="5284589" cy="152400"/>
            <a:chOff x="0" y="0"/>
            <a:chExt cx="7046118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46087" cy="203200"/>
            </a:xfrm>
            <a:custGeom>
              <a:avLst/>
              <a:gdLst/>
              <a:ahLst/>
              <a:cxnLst/>
              <a:rect r="r" b="b" t="t" l="l"/>
              <a:pathLst>
                <a:path h="203200" w="7046087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944487" y="0"/>
                  </a:lnTo>
                  <a:cubicBezTo>
                    <a:pt x="7000621" y="0"/>
                    <a:pt x="7046087" y="45466"/>
                    <a:pt x="7046087" y="101600"/>
                  </a:cubicBezTo>
                  <a:cubicBezTo>
                    <a:pt x="7046087" y="157734"/>
                    <a:pt x="7000621" y="203200"/>
                    <a:pt x="6944487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83285" y="2135238"/>
            <a:ext cx="811411" cy="811411"/>
            <a:chOff x="0" y="0"/>
            <a:chExt cx="1081882" cy="10818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913" cy="1081913"/>
            </a:xfrm>
            <a:custGeom>
              <a:avLst/>
              <a:gdLst/>
              <a:ahLst/>
              <a:cxnLst/>
              <a:rect r="r" b="b" t="t" l="l"/>
              <a:pathLst>
                <a:path h="1081913" w="1081913">
                  <a:moveTo>
                    <a:pt x="0" y="540893"/>
                  </a:moveTo>
                  <a:cubicBezTo>
                    <a:pt x="0" y="242189"/>
                    <a:pt x="242189" y="0"/>
                    <a:pt x="540893" y="0"/>
                  </a:cubicBezTo>
                  <a:cubicBezTo>
                    <a:pt x="839597" y="0"/>
                    <a:pt x="1081913" y="242189"/>
                    <a:pt x="1081913" y="540893"/>
                  </a:cubicBezTo>
                  <a:cubicBezTo>
                    <a:pt x="1081913" y="839597"/>
                    <a:pt x="839724" y="1081913"/>
                    <a:pt x="540893" y="1081913"/>
                  </a:cubicBezTo>
                  <a:cubicBezTo>
                    <a:pt x="242062" y="1081913"/>
                    <a:pt x="0" y="839724"/>
                    <a:pt x="0" y="540893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426619" y="2338090"/>
            <a:ext cx="324594" cy="405705"/>
            <a:chOff x="0" y="0"/>
            <a:chExt cx="432792" cy="54094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32816" cy="540893"/>
            </a:xfrm>
            <a:custGeom>
              <a:avLst/>
              <a:gdLst/>
              <a:ahLst/>
              <a:cxnLst/>
              <a:rect r="r" b="b" t="t" l="l"/>
              <a:pathLst>
                <a:path h="540893" w="432816">
                  <a:moveTo>
                    <a:pt x="0" y="0"/>
                  </a:moveTo>
                  <a:lnTo>
                    <a:pt x="432816" y="0"/>
                  </a:lnTo>
                  <a:lnTo>
                    <a:pt x="432816" y="540893"/>
                  </a:lnTo>
                  <a:lnTo>
                    <a:pt x="0" y="540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92" r="5" b="-60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55216" y="3188642"/>
            <a:ext cx="4667547" cy="873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PDF Document Upload &amp; Storage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5217" y="4298901"/>
            <a:ext cx="4667547" cy="138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Upload PDFs, extract text, chunk content, and save as vector embeddings for semantic search.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01705" y="2540942"/>
            <a:ext cx="5284589" cy="3290739"/>
            <a:chOff x="0" y="0"/>
            <a:chExt cx="7046118" cy="43876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46087" cy="4387723"/>
            </a:xfrm>
            <a:custGeom>
              <a:avLst/>
              <a:gdLst/>
              <a:ahLst/>
              <a:cxnLst/>
              <a:rect r="r" b="b" t="t" l="l"/>
              <a:pathLst>
                <a:path h="4387723" w="704608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802247" y="0"/>
                  </a:lnTo>
                  <a:cubicBezTo>
                    <a:pt x="6936867" y="0"/>
                    <a:pt x="7046087" y="109220"/>
                    <a:pt x="7046087" y="243840"/>
                  </a:cubicBezTo>
                  <a:lnTo>
                    <a:pt x="7046087" y="4143883"/>
                  </a:lnTo>
                  <a:cubicBezTo>
                    <a:pt x="7046087" y="4278503"/>
                    <a:pt x="6936867" y="4387723"/>
                    <a:pt x="6802247" y="4387723"/>
                  </a:cubicBezTo>
                  <a:lnTo>
                    <a:pt x="243840" y="4387723"/>
                  </a:lnTo>
                  <a:cubicBezTo>
                    <a:pt x="109220" y="4387723"/>
                    <a:pt x="0" y="4278503"/>
                    <a:pt x="0" y="414388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01705" y="2502842"/>
            <a:ext cx="5284589" cy="152400"/>
            <a:chOff x="0" y="0"/>
            <a:chExt cx="7046118" cy="20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6087" cy="203200"/>
            </a:xfrm>
            <a:custGeom>
              <a:avLst/>
              <a:gdLst/>
              <a:ahLst/>
              <a:cxnLst/>
              <a:rect r="r" b="b" t="t" l="l"/>
              <a:pathLst>
                <a:path h="203200" w="7046087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944487" y="0"/>
                  </a:lnTo>
                  <a:cubicBezTo>
                    <a:pt x="7000621" y="0"/>
                    <a:pt x="7046087" y="45466"/>
                    <a:pt x="7046087" y="101600"/>
                  </a:cubicBezTo>
                  <a:cubicBezTo>
                    <a:pt x="7046087" y="157734"/>
                    <a:pt x="7000621" y="203200"/>
                    <a:pt x="6944487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738295" y="2135238"/>
            <a:ext cx="811411" cy="811411"/>
            <a:chOff x="0" y="0"/>
            <a:chExt cx="1081882" cy="10818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1913" cy="1081913"/>
            </a:xfrm>
            <a:custGeom>
              <a:avLst/>
              <a:gdLst/>
              <a:ahLst/>
              <a:cxnLst/>
              <a:rect r="r" b="b" t="t" l="l"/>
              <a:pathLst>
                <a:path h="1081913" w="1081913">
                  <a:moveTo>
                    <a:pt x="0" y="540893"/>
                  </a:moveTo>
                  <a:cubicBezTo>
                    <a:pt x="0" y="242189"/>
                    <a:pt x="242189" y="0"/>
                    <a:pt x="540893" y="0"/>
                  </a:cubicBezTo>
                  <a:cubicBezTo>
                    <a:pt x="839597" y="0"/>
                    <a:pt x="1081913" y="242189"/>
                    <a:pt x="1081913" y="540893"/>
                  </a:cubicBezTo>
                  <a:cubicBezTo>
                    <a:pt x="1081913" y="839597"/>
                    <a:pt x="839724" y="1081913"/>
                    <a:pt x="540893" y="1081913"/>
                  </a:cubicBezTo>
                  <a:cubicBezTo>
                    <a:pt x="242062" y="1081913"/>
                    <a:pt x="0" y="839724"/>
                    <a:pt x="0" y="540893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981629" y="2338090"/>
            <a:ext cx="324594" cy="405705"/>
            <a:chOff x="0" y="0"/>
            <a:chExt cx="432792" cy="54094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32816" cy="540893"/>
            </a:xfrm>
            <a:custGeom>
              <a:avLst/>
              <a:gdLst/>
              <a:ahLst/>
              <a:cxnLst/>
              <a:rect r="r" b="b" t="t" l="l"/>
              <a:pathLst>
                <a:path h="540893" w="432816">
                  <a:moveTo>
                    <a:pt x="0" y="0"/>
                  </a:moveTo>
                  <a:lnTo>
                    <a:pt x="432816" y="0"/>
                  </a:lnTo>
                  <a:lnTo>
                    <a:pt x="432816" y="540893"/>
                  </a:lnTo>
                  <a:lnTo>
                    <a:pt x="0" y="540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92" r="5" b="-60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203951" y="3188642"/>
            <a:ext cx="4150370" cy="45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Voice Input &amp; Transcription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72449" y="4298901"/>
            <a:ext cx="4667547" cy="138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Accepts audio input via API and transcribes to text using AssemblyAI for hands-free interaction.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056715" y="2540942"/>
            <a:ext cx="5284589" cy="3290739"/>
            <a:chOff x="0" y="0"/>
            <a:chExt cx="7046118" cy="43876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46087" cy="4387723"/>
            </a:xfrm>
            <a:custGeom>
              <a:avLst/>
              <a:gdLst/>
              <a:ahLst/>
              <a:cxnLst/>
              <a:rect r="r" b="b" t="t" l="l"/>
              <a:pathLst>
                <a:path h="4387723" w="704608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802247" y="0"/>
                  </a:lnTo>
                  <a:cubicBezTo>
                    <a:pt x="6936867" y="0"/>
                    <a:pt x="7046087" y="109220"/>
                    <a:pt x="7046087" y="243840"/>
                  </a:cubicBezTo>
                  <a:lnTo>
                    <a:pt x="7046087" y="4143883"/>
                  </a:lnTo>
                  <a:cubicBezTo>
                    <a:pt x="7046087" y="4278503"/>
                    <a:pt x="6936867" y="4387723"/>
                    <a:pt x="6802247" y="4387723"/>
                  </a:cubicBezTo>
                  <a:lnTo>
                    <a:pt x="243840" y="4387723"/>
                  </a:lnTo>
                  <a:cubicBezTo>
                    <a:pt x="109220" y="4387723"/>
                    <a:pt x="0" y="4278503"/>
                    <a:pt x="0" y="414388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056715" y="2502842"/>
            <a:ext cx="5284589" cy="152400"/>
            <a:chOff x="0" y="0"/>
            <a:chExt cx="7046118" cy="203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46087" cy="203200"/>
            </a:xfrm>
            <a:custGeom>
              <a:avLst/>
              <a:gdLst/>
              <a:ahLst/>
              <a:cxnLst/>
              <a:rect r="r" b="b" t="t" l="l"/>
              <a:pathLst>
                <a:path h="203200" w="7046087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944487" y="0"/>
                  </a:lnTo>
                  <a:cubicBezTo>
                    <a:pt x="7000621" y="0"/>
                    <a:pt x="7046087" y="45466"/>
                    <a:pt x="7046087" y="101600"/>
                  </a:cubicBezTo>
                  <a:cubicBezTo>
                    <a:pt x="7046087" y="157734"/>
                    <a:pt x="7000621" y="203200"/>
                    <a:pt x="6944487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293304" y="2135238"/>
            <a:ext cx="811411" cy="811411"/>
            <a:chOff x="0" y="0"/>
            <a:chExt cx="1081882" cy="10818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1913" cy="1081913"/>
            </a:xfrm>
            <a:custGeom>
              <a:avLst/>
              <a:gdLst/>
              <a:ahLst/>
              <a:cxnLst/>
              <a:rect r="r" b="b" t="t" l="l"/>
              <a:pathLst>
                <a:path h="1081913" w="1081913">
                  <a:moveTo>
                    <a:pt x="0" y="540893"/>
                  </a:moveTo>
                  <a:cubicBezTo>
                    <a:pt x="0" y="242189"/>
                    <a:pt x="242189" y="0"/>
                    <a:pt x="540893" y="0"/>
                  </a:cubicBezTo>
                  <a:cubicBezTo>
                    <a:pt x="839597" y="0"/>
                    <a:pt x="1081913" y="242189"/>
                    <a:pt x="1081913" y="540893"/>
                  </a:cubicBezTo>
                  <a:cubicBezTo>
                    <a:pt x="1081913" y="839597"/>
                    <a:pt x="839724" y="1081913"/>
                    <a:pt x="540893" y="1081913"/>
                  </a:cubicBezTo>
                  <a:cubicBezTo>
                    <a:pt x="242062" y="1081913"/>
                    <a:pt x="0" y="839724"/>
                    <a:pt x="0" y="540893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536639" y="2338090"/>
            <a:ext cx="324594" cy="405705"/>
            <a:chOff x="0" y="0"/>
            <a:chExt cx="432792" cy="54094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432816" cy="540893"/>
            </a:xfrm>
            <a:custGeom>
              <a:avLst/>
              <a:gdLst/>
              <a:ahLst/>
              <a:cxnLst/>
              <a:rect r="r" b="b" t="t" l="l"/>
              <a:pathLst>
                <a:path h="540893" w="432816">
                  <a:moveTo>
                    <a:pt x="0" y="0"/>
                  </a:moveTo>
                  <a:lnTo>
                    <a:pt x="432816" y="0"/>
                  </a:lnTo>
                  <a:lnTo>
                    <a:pt x="432816" y="540893"/>
                  </a:lnTo>
                  <a:lnTo>
                    <a:pt x="0" y="540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92" r="5" b="-601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649944" y="3188642"/>
            <a:ext cx="4097982" cy="45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Smart Query Classification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91752" y="4298901"/>
            <a:ext cx="4667548" cy="138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Gemini-powered prompt classifies questions as "pdf" or "friendly" for accurate routing.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46696" y="6507808"/>
            <a:ext cx="8062020" cy="3030290"/>
            <a:chOff x="0" y="0"/>
            <a:chExt cx="10749360" cy="40403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49407" cy="4040378"/>
            </a:xfrm>
            <a:custGeom>
              <a:avLst/>
              <a:gdLst/>
              <a:ahLst/>
              <a:cxnLst/>
              <a:rect r="r" b="b" t="t" l="l"/>
              <a:pathLst>
                <a:path h="4040378" w="1074940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05567" y="0"/>
                  </a:lnTo>
                  <a:cubicBezTo>
                    <a:pt x="10640187" y="0"/>
                    <a:pt x="10749407" y="109220"/>
                    <a:pt x="10749407" y="243840"/>
                  </a:cubicBezTo>
                  <a:lnTo>
                    <a:pt x="10749407" y="3796538"/>
                  </a:lnTo>
                  <a:cubicBezTo>
                    <a:pt x="10749407" y="3931158"/>
                    <a:pt x="10640187" y="4040378"/>
                    <a:pt x="10505567" y="4040378"/>
                  </a:cubicBezTo>
                  <a:lnTo>
                    <a:pt x="243840" y="4040378"/>
                  </a:lnTo>
                  <a:cubicBezTo>
                    <a:pt x="109220" y="4040378"/>
                    <a:pt x="0" y="3931158"/>
                    <a:pt x="0" y="37965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46696" y="6469708"/>
            <a:ext cx="8062020" cy="152400"/>
            <a:chOff x="0" y="0"/>
            <a:chExt cx="10749360" cy="203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49407" cy="203200"/>
            </a:xfrm>
            <a:custGeom>
              <a:avLst/>
              <a:gdLst/>
              <a:ahLst/>
              <a:cxnLst/>
              <a:rect r="r" b="b" t="t" l="l"/>
              <a:pathLst>
                <a:path h="203200" w="10749407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47807" y="0"/>
                  </a:lnTo>
                  <a:cubicBezTo>
                    <a:pt x="10703940" y="0"/>
                    <a:pt x="10749407" y="45466"/>
                    <a:pt x="10749407" y="101600"/>
                  </a:cubicBezTo>
                  <a:cubicBezTo>
                    <a:pt x="10749407" y="157734"/>
                    <a:pt x="10703940" y="203200"/>
                    <a:pt x="10647807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572000" y="6102102"/>
            <a:ext cx="811411" cy="811411"/>
            <a:chOff x="0" y="0"/>
            <a:chExt cx="1081882" cy="108188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81913" cy="1081913"/>
            </a:xfrm>
            <a:custGeom>
              <a:avLst/>
              <a:gdLst/>
              <a:ahLst/>
              <a:cxnLst/>
              <a:rect r="r" b="b" t="t" l="l"/>
              <a:pathLst>
                <a:path h="1081913" w="1081913">
                  <a:moveTo>
                    <a:pt x="0" y="540893"/>
                  </a:moveTo>
                  <a:cubicBezTo>
                    <a:pt x="0" y="242189"/>
                    <a:pt x="242189" y="0"/>
                    <a:pt x="540893" y="0"/>
                  </a:cubicBezTo>
                  <a:cubicBezTo>
                    <a:pt x="839597" y="0"/>
                    <a:pt x="1081913" y="242189"/>
                    <a:pt x="1081913" y="540893"/>
                  </a:cubicBezTo>
                  <a:cubicBezTo>
                    <a:pt x="1081913" y="839597"/>
                    <a:pt x="839724" y="1081913"/>
                    <a:pt x="540893" y="1081913"/>
                  </a:cubicBezTo>
                  <a:cubicBezTo>
                    <a:pt x="242062" y="1081913"/>
                    <a:pt x="0" y="839724"/>
                    <a:pt x="0" y="540893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815334" y="6304955"/>
            <a:ext cx="324594" cy="405705"/>
            <a:chOff x="0" y="0"/>
            <a:chExt cx="432792" cy="54094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432816" cy="540893"/>
            </a:xfrm>
            <a:custGeom>
              <a:avLst/>
              <a:gdLst/>
              <a:ahLst/>
              <a:cxnLst/>
              <a:rect r="r" b="b" t="t" l="l"/>
              <a:pathLst>
                <a:path h="540893" w="432816">
                  <a:moveTo>
                    <a:pt x="0" y="0"/>
                  </a:moveTo>
                  <a:lnTo>
                    <a:pt x="432816" y="0"/>
                  </a:lnTo>
                  <a:lnTo>
                    <a:pt x="432816" y="540893"/>
                  </a:lnTo>
                  <a:lnTo>
                    <a:pt x="0" y="540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92" r="5" b="-601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2846189" y="7155507"/>
            <a:ext cx="4263032" cy="45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RAG-Based PDF Answering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55216" y="7937227"/>
            <a:ext cx="7444977" cy="95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Uses vector search for relevant document chunks and Gemini Flash 2.0 for context-aware answers.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279136" y="6507808"/>
            <a:ext cx="8062169" cy="3030290"/>
            <a:chOff x="0" y="0"/>
            <a:chExt cx="10749558" cy="404038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49534" cy="4040378"/>
            </a:xfrm>
            <a:custGeom>
              <a:avLst/>
              <a:gdLst/>
              <a:ahLst/>
              <a:cxnLst/>
              <a:rect r="r" b="b" t="t" l="l"/>
              <a:pathLst>
                <a:path h="4040378" w="10749534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05694" y="0"/>
                  </a:lnTo>
                  <a:cubicBezTo>
                    <a:pt x="10640313" y="0"/>
                    <a:pt x="10749534" y="109220"/>
                    <a:pt x="10749534" y="243840"/>
                  </a:cubicBezTo>
                  <a:lnTo>
                    <a:pt x="10749534" y="3796538"/>
                  </a:lnTo>
                  <a:cubicBezTo>
                    <a:pt x="10749534" y="3931158"/>
                    <a:pt x="10640313" y="4040378"/>
                    <a:pt x="10505694" y="4040378"/>
                  </a:cubicBezTo>
                  <a:lnTo>
                    <a:pt x="243840" y="4040378"/>
                  </a:lnTo>
                  <a:cubicBezTo>
                    <a:pt x="109220" y="4040378"/>
                    <a:pt x="0" y="3931158"/>
                    <a:pt x="0" y="37965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279136" y="6469708"/>
            <a:ext cx="8062169" cy="152400"/>
            <a:chOff x="0" y="0"/>
            <a:chExt cx="10749558" cy="203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49534" cy="203200"/>
            </a:xfrm>
            <a:custGeom>
              <a:avLst/>
              <a:gdLst/>
              <a:ahLst/>
              <a:cxnLst/>
              <a:rect r="r" b="b" t="t" l="l"/>
              <a:pathLst>
                <a:path h="203200" w="1074953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47934" y="0"/>
                  </a:lnTo>
                  <a:cubicBezTo>
                    <a:pt x="10704068" y="0"/>
                    <a:pt x="10749534" y="45466"/>
                    <a:pt x="10749534" y="101600"/>
                  </a:cubicBezTo>
                  <a:cubicBezTo>
                    <a:pt x="10749534" y="157734"/>
                    <a:pt x="10704068" y="203200"/>
                    <a:pt x="10647934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904440" y="6102102"/>
            <a:ext cx="811411" cy="811411"/>
            <a:chOff x="0" y="0"/>
            <a:chExt cx="1081882" cy="108188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81913" cy="1081913"/>
            </a:xfrm>
            <a:custGeom>
              <a:avLst/>
              <a:gdLst/>
              <a:ahLst/>
              <a:cxnLst/>
              <a:rect r="r" b="b" t="t" l="l"/>
              <a:pathLst>
                <a:path h="1081913" w="1081913">
                  <a:moveTo>
                    <a:pt x="0" y="540893"/>
                  </a:moveTo>
                  <a:cubicBezTo>
                    <a:pt x="0" y="242189"/>
                    <a:pt x="242189" y="0"/>
                    <a:pt x="540893" y="0"/>
                  </a:cubicBezTo>
                  <a:cubicBezTo>
                    <a:pt x="839597" y="0"/>
                    <a:pt x="1081913" y="242189"/>
                    <a:pt x="1081913" y="540893"/>
                  </a:cubicBezTo>
                  <a:cubicBezTo>
                    <a:pt x="1081913" y="839597"/>
                    <a:pt x="839724" y="1081913"/>
                    <a:pt x="540893" y="1081913"/>
                  </a:cubicBezTo>
                  <a:cubicBezTo>
                    <a:pt x="242062" y="1081913"/>
                    <a:pt x="0" y="839724"/>
                    <a:pt x="0" y="540893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147774" y="6304955"/>
            <a:ext cx="324594" cy="405705"/>
            <a:chOff x="0" y="0"/>
            <a:chExt cx="432792" cy="54094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432816" cy="540893"/>
            </a:xfrm>
            <a:custGeom>
              <a:avLst/>
              <a:gdLst/>
              <a:ahLst/>
              <a:cxnLst/>
              <a:rect r="r" b="b" t="t" l="l"/>
              <a:pathLst>
                <a:path h="540893" w="432816">
                  <a:moveTo>
                    <a:pt x="0" y="0"/>
                  </a:moveTo>
                  <a:lnTo>
                    <a:pt x="432816" y="0"/>
                  </a:lnTo>
                  <a:lnTo>
                    <a:pt x="432816" y="540893"/>
                  </a:lnTo>
                  <a:lnTo>
                    <a:pt x="0" y="540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92" r="5" b="-601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1513939" y="7155507"/>
            <a:ext cx="3592414" cy="45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Friendly Chatbot Agent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87657" y="7937227"/>
            <a:ext cx="7445127" cy="95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Responds naturally to general questions, maintains chat history, and engages like a virtual companion.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2604" y="1465755"/>
            <a:ext cx="13082791" cy="7355491"/>
          </a:xfrm>
          <a:custGeom>
            <a:avLst/>
            <a:gdLst/>
            <a:ahLst/>
            <a:cxnLst/>
            <a:rect r="r" b="b" t="t" l="l"/>
            <a:pathLst>
              <a:path h="7355491" w="13082791">
                <a:moveTo>
                  <a:pt x="0" y="0"/>
                </a:moveTo>
                <a:lnTo>
                  <a:pt x="13082792" y="0"/>
                </a:lnTo>
                <a:lnTo>
                  <a:pt x="13082792" y="7355490"/>
                </a:lnTo>
                <a:lnTo>
                  <a:pt x="0" y="7355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028700"/>
            <a:ext cx="18288000" cy="10281996"/>
          </a:xfrm>
          <a:custGeom>
            <a:avLst/>
            <a:gdLst/>
            <a:ahLst/>
            <a:cxnLst/>
            <a:rect r="r" b="b" t="t" l="l"/>
            <a:pathLst>
              <a:path h="10281996" w="18288000">
                <a:moveTo>
                  <a:pt x="0" y="0"/>
                </a:moveTo>
                <a:lnTo>
                  <a:pt x="18288000" y="0"/>
                </a:lnTo>
                <a:lnTo>
                  <a:pt x="18288000" y="10281996"/>
                </a:lnTo>
                <a:lnTo>
                  <a:pt x="0" y="10281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665743" y="431593"/>
            <a:ext cx="12304411" cy="75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  <a:spcBef>
                <a:spcPct val="0"/>
              </a:spcBef>
            </a:pPr>
            <a:r>
              <a:rPr lang="en-US" sz="483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Architecture Diagram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1262" y="4610063"/>
            <a:ext cx="17845477" cy="101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7"/>
              </a:lnSpc>
              <a:spcBef>
                <a:spcPct val="0"/>
              </a:spcBef>
            </a:pPr>
            <a:r>
              <a:rPr lang="en-US" sz="6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Let’s go for a quick demo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177" y="547613"/>
            <a:ext cx="8082641" cy="102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6"/>
              </a:lnSpc>
            </a:pPr>
            <a:r>
              <a:rPr lang="en-US" sz="622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Future Enhancements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086398"/>
            <a:ext cx="850553" cy="850552"/>
            <a:chOff x="0" y="0"/>
            <a:chExt cx="1134070" cy="113407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97150" y="3296990"/>
            <a:ext cx="399335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Multiple Documents &amp; Filters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7150" y="4286250"/>
            <a:ext cx="3993356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Upload and query multiple PDFs, filter by name, tags, or date.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866" y="3086398"/>
            <a:ext cx="850552" cy="850552"/>
            <a:chOff x="0" y="0"/>
            <a:chExt cx="1134070" cy="113407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749779" y="3296990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Live Voice Chat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49779" y="3843337"/>
            <a:ext cx="3993356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Real-time voice conversation with the chatbot via audio streaming.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7494" y="3086398"/>
            <a:ext cx="850553" cy="850552"/>
            <a:chOff x="0" y="0"/>
            <a:chExt cx="1134070" cy="113407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302406" y="3296990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User Login &amp; History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02406" y="3843337"/>
            <a:ext cx="399335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User accounts to save files and chat history for personalization.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6451104"/>
            <a:ext cx="850553" cy="850552"/>
            <a:chOff x="0" y="0"/>
            <a:chExt cx="1134070" cy="113407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197150" y="6661696"/>
            <a:ext cx="399335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Document Summarization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97150" y="7650956"/>
            <a:ext cx="399335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Quickly summarize PDFs and highlight key points.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44866" y="6451104"/>
            <a:ext cx="850552" cy="850552"/>
            <a:chOff x="0" y="0"/>
            <a:chExt cx="1134070" cy="113407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749779" y="6661696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Offline Use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49779" y="7208044"/>
            <a:ext cx="399335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Functionality without internet using local AI models.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2456933"/>
            <a:ext cx="7938765" cy="1030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9"/>
              </a:lnSpc>
            </a:pPr>
            <a:r>
              <a:rPr lang="en-US" sz="6229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4116140"/>
            <a:ext cx="9445526" cy="327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AI assistant integrates voice recognition, document understanding, and natural conversation. By combining FastAPI, Langchain, Gemini Flash, and AssemblyAI, it enables users to interact with PDFs and receive accurate, context-aware answers via text and voice. Its ability to classify questions and provide tailored responses makes it versatile and user-friendly, serving as a strong foundation for advanced, multi-modal AI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360691" y="3376340"/>
            <a:ext cx="19009383" cy="259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5"/>
              </a:lnSpc>
              <a:spcBef>
                <a:spcPct val="0"/>
              </a:spcBef>
            </a:pPr>
            <a:r>
              <a:rPr lang="en-US" sz="1640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DAGuXDzP0LI</dc:identifier>
  <dcterms:modified xsi:type="dcterms:W3CDTF">2011-08-01T06:04:30Z</dcterms:modified>
  <cp:revision>1</cp:revision>
  <dc:title>- presented by: Blesson Samuel L</dc:title>
</cp:coreProperties>
</file>